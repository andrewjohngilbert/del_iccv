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891200" cy="21945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EA"/>
    <a:srgbClr val="1D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2"/>
    <p:restoredTop sz="94675"/>
  </p:normalViewPr>
  <p:slideViewPr>
    <p:cSldViewPr snapToGrid="0">
      <p:cViewPr>
        <p:scale>
          <a:sx n="75" d="100"/>
          <a:sy n="75" d="100"/>
        </p:scale>
        <p:origin x="-9162" y="-3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586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924770EC-B5C9-452E-86AE-6AAC76C5DAD9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685800"/>
            <a:ext cx="6858000" cy="3429000"/>
          </a:xfrm>
          <a:prstGeom prst="rect">
            <a:avLst/>
          </a:prstGeom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62" name="TextShape 3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170D6E0E-BCF7-48F4-8CE7-CBC3B6DB5F15}" type="slidenum">
              <a:rPr lang="en-US" sz="1200" b="0" strike="noStrike" spc="-1">
                <a:solidFill>
                  <a:srgbClr val="000000"/>
                </a:solidFill>
                <a:latin typeface="Arial"/>
                <a:ea typeface="MS PGothic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80880" y="3135240"/>
            <a:ext cx="13700520" cy="18200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80880" y="3135240"/>
            <a:ext cx="13700520" cy="182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80880" y="3135240"/>
            <a:ext cx="6685560" cy="182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7401240" y="3135240"/>
            <a:ext cx="6685560" cy="182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640280" y="410040"/>
            <a:ext cx="28128240" cy="10053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80880" y="313524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7401240" y="3135240"/>
            <a:ext cx="6685560" cy="182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80880" y="1264176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80880" y="3135240"/>
            <a:ext cx="6685560" cy="182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7401240" y="313524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7401240" y="1264176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80880" y="313524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7401240" y="313524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380880" y="12641760"/>
            <a:ext cx="1370052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80880" y="3135240"/>
            <a:ext cx="1370052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80880" y="12641760"/>
            <a:ext cx="1370052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80880" y="313524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7401240" y="313524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380880" y="1264176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7401240" y="12641760"/>
            <a:ext cx="668556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586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80880" y="3135240"/>
            <a:ext cx="441144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13360" y="3135240"/>
            <a:ext cx="441144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9645840" y="3135240"/>
            <a:ext cx="441144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380880" y="12641760"/>
            <a:ext cx="441144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5013360" y="12641760"/>
            <a:ext cx="441144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9645840" y="12641760"/>
            <a:ext cx="4411440" cy="8681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0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640280" y="410040"/>
            <a:ext cx="28128240" cy="2168640"/>
          </a:xfrm>
          <a:prstGeom prst="rect">
            <a:avLst/>
          </a:prstGeom>
        </p:spPr>
        <p:txBody>
          <a:bodyPr lIns="294840" tIns="147600" rIns="294840" bIns="1476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  <a:ea typeface="MS PGothic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80880" y="3135240"/>
            <a:ext cx="13700520" cy="18200520"/>
          </a:xfrm>
          <a:prstGeom prst="rect">
            <a:avLst/>
          </a:prstGeom>
        </p:spPr>
        <p:txBody>
          <a:bodyPr lIns="294840" tIns="147600" rIns="294840" bIns="147600">
            <a:normAutofit/>
          </a:bodyPr>
          <a:lstStyle/>
          <a:p>
            <a:pPr marL="410400" indent="-4100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900" b="0" strike="noStrike" spc="-1">
                <a:solidFill>
                  <a:srgbClr val="000000"/>
                </a:solidFill>
                <a:latin typeface="Arial"/>
                <a:ea typeface="MS PGothic"/>
              </a:rPr>
              <a:t>Click to edit Master text styles</a:t>
            </a:r>
            <a:endParaRPr lang="en-US" sz="2900" b="0" strike="noStrike" spc="-1">
              <a:solidFill>
                <a:srgbClr val="000000"/>
              </a:solidFill>
              <a:latin typeface="Calibri"/>
            </a:endParaRPr>
          </a:p>
          <a:p>
            <a:pPr marL="793080" lvl="1" indent="-655200">
              <a:lnSpc>
                <a:spcPct val="100000"/>
              </a:lnSpc>
              <a:spcBef>
                <a:spcPts val="459"/>
              </a:spcBef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300" b="0" strike="noStrike" spc="-1">
                <a:solidFill>
                  <a:srgbClr val="000000"/>
                </a:solidFill>
                <a:latin typeface="Arial"/>
                <a:ea typeface="MS PGothic"/>
              </a:rPr>
              <a:t>Second level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929520" lvl="2" indent="-546120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900" b="0" strike="noStrike" spc="-1">
                <a:solidFill>
                  <a:srgbClr val="000000"/>
                </a:solidFill>
                <a:latin typeface="Arial"/>
                <a:ea typeface="MS PGothic"/>
              </a:rPr>
              <a:t>Third level</a:t>
            </a:r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  <a:p>
            <a:pPr marL="1202040" lvl="3" indent="-655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MS PGothic"/>
              </a:rPr>
              <a:t>Fourth level</a:t>
            </a:r>
            <a:endParaRPr lang="en-US" sz="1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4981040" y="3135240"/>
            <a:ext cx="13700520" cy="18200520"/>
          </a:xfrm>
          <a:prstGeom prst="rect">
            <a:avLst/>
          </a:prstGeom>
        </p:spPr>
        <p:txBody>
          <a:bodyPr lIns="294840" tIns="147600" rIns="294840" bIns="147600">
            <a:normAutofit/>
          </a:bodyPr>
          <a:lstStyle/>
          <a:p>
            <a:pPr marL="410400" indent="-4100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900" b="0" strike="noStrike" spc="-1">
                <a:solidFill>
                  <a:srgbClr val="000000"/>
                </a:solidFill>
                <a:latin typeface="Arial"/>
                <a:ea typeface="MS PGothic"/>
              </a:rPr>
              <a:t>Click to edit Master text styles</a:t>
            </a:r>
            <a:endParaRPr lang="en-US" sz="2900" b="0" strike="noStrike" spc="-1">
              <a:solidFill>
                <a:srgbClr val="000000"/>
              </a:solidFill>
              <a:latin typeface="Calibri"/>
            </a:endParaRPr>
          </a:p>
          <a:p>
            <a:pPr marL="793080" lvl="1" indent="-655200">
              <a:lnSpc>
                <a:spcPct val="100000"/>
              </a:lnSpc>
              <a:spcBef>
                <a:spcPts val="459"/>
              </a:spcBef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300" b="0" strike="noStrike" spc="-1">
                <a:solidFill>
                  <a:srgbClr val="000000"/>
                </a:solidFill>
                <a:latin typeface="Arial"/>
                <a:ea typeface="MS PGothic"/>
              </a:rPr>
              <a:t>Second level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929520" lvl="2" indent="-546120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900" b="0" strike="noStrike" spc="-1">
                <a:solidFill>
                  <a:srgbClr val="000000"/>
                </a:solidFill>
                <a:latin typeface="Arial"/>
                <a:ea typeface="MS PGothic"/>
              </a:rPr>
              <a:t>Third level</a:t>
            </a:r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  <a:p>
            <a:pPr marL="1202040" lvl="3" indent="-655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MS PGothic"/>
              </a:rPr>
              <a:t>Fourth level</a:t>
            </a:r>
            <a:endParaRPr lang="en-US" sz="1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29580840" y="3135240"/>
            <a:ext cx="13700520" cy="18200520"/>
          </a:xfrm>
          <a:prstGeom prst="rect">
            <a:avLst/>
          </a:prstGeom>
        </p:spPr>
        <p:txBody>
          <a:bodyPr lIns="294840" tIns="147600" rIns="294840" bIns="147600">
            <a:normAutofit/>
          </a:bodyPr>
          <a:lstStyle/>
          <a:p>
            <a:pPr marL="410400" indent="-4100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900" b="0" strike="noStrike" spc="-1">
                <a:solidFill>
                  <a:srgbClr val="000000"/>
                </a:solidFill>
                <a:latin typeface="Arial"/>
                <a:ea typeface="MS PGothic"/>
              </a:rPr>
              <a:t>Click to edit Master text styles</a:t>
            </a:r>
            <a:endParaRPr lang="en-US" sz="2900" b="0" strike="noStrike" spc="-1">
              <a:solidFill>
                <a:srgbClr val="000000"/>
              </a:solidFill>
              <a:latin typeface="Calibri"/>
            </a:endParaRPr>
          </a:p>
          <a:p>
            <a:pPr marL="793080" lvl="1" indent="-655200">
              <a:lnSpc>
                <a:spcPct val="100000"/>
              </a:lnSpc>
              <a:spcBef>
                <a:spcPts val="459"/>
              </a:spcBef>
              <a:buClr>
                <a:srgbClr val="000000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300" b="0" strike="noStrike" spc="-1">
                <a:solidFill>
                  <a:srgbClr val="000000"/>
                </a:solidFill>
                <a:latin typeface="Arial"/>
                <a:ea typeface="MS PGothic"/>
              </a:rPr>
              <a:t>Second level</a:t>
            </a:r>
            <a:endParaRPr lang="en-US" sz="2300" b="0" strike="noStrike" spc="-1">
              <a:solidFill>
                <a:srgbClr val="000000"/>
              </a:solidFill>
              <a:latin typeface="Calibri"/>
            </a:endParaRPr>
          </a:p>
          <a:p>
            <a:pPr marL="929520" lvl="2" indent="-546120">
              <a:lnSpc>
                <a:spcPct val="100000"/>
              </a:lnSpc>
              <a:spcBef>
                <a:spcPts val="38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900" b="0" strike="noStrike" spc="-1">
                <a:solidFill>
                  <a:srgbClr val="000000"/>
                </a:solidFill>
                <a:latin typeface="Arial"/>
                <a:ea typeface="MS PGothic"/>
              </a:rPr>
              <a:t>Third level</a:t>
            </a:r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  <a:p>
            <a:pPr marL="1202040" lvl="3" indent="-655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  <a:ea typeface="MS PGothic"/>
              </a:rPr>
              <a:t>Fourth level</a:t>
            </a:r>
            <a:endParaRPr lang="en-US" sz="16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D27B2F0-7F05-1B48-8F96-994066F4E4F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158408" y="779955"/>
            <a:ext cx="5196600" cy="14288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5340531" y="187460"/>
            <a:ext cx="33210137" cy="2077560"/>
          </a:xfrm>
          <a:prstGeom prst="rect">
            <a:avLst/>
          </a:prstGeom>
          <a:noFill/>
          <a:ln>
            <a:noFill/>
          </a:ln>
        </p:spPr>
        <p:txBody>
          <a:bodyPr lIns="294840" tIns="147600" rIns="294840" bIns="1476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400" b="0" strike="noStrike" spc="-1" dirty="0">
                <a:solidFill>
                  <a:srgbClr val="0086EA"/>
                </a:solidFill>
                <a:latin typeface="Arial"/>
                <a:ea typeface="MS PGothic"/>
              </a:rPr>
              <a:t>DEL</a:t>
            </a:r>
            <a:r>
              <a:rPr lang="en-US" sz="5400" b="0" strike="noStrike" spc="-1" dirty="0">
                <a:solidFill>
                  <a:schemeClr val="tx2">
                    <a:lumMod val="75000"/>
                  </a:schemeClr>
                </a:solidFill>
                <a:latin typeface="Arial"/>
                <a:ea typeface="MS PGothic"/>
              </a:rPr>
              <a:t>: </a:t>
            </a:r>
            <a:r>
              <a:rPr lang="en-US" sz="5400" b="0" strike="noStrike" spc="-1" dirty="0">
                <a:solidFill>
                  <a:srgbClr val="0086EA"/>
                </a:solidFill>
                <a:latin typeface="Arial"/>
                <a:ea typeface="MS PGothic"/>
              </a:rPr>
              <a:t>D</a:t>
            </a:r>
            <a:r>
              <a:rPr lang="en-US" sz="5400" b="0" strike="noStrike" spc="-1" dirty="0">
                <a:solidFill>
                  <a:schemeClr val="tx2">
                    <a:lumMod val="75000"/>
                  </a:schemeClr>
                </a:solidFill>
                <a:latin typeface="Arial"/>
                <a:ea typeface="MS PGothic"/>
              </a:rPr>
              <a:t>ense </a:t>
            </a:r>
            <a:r>
              <a:rPr lang="en-US" sz="5400" b="0" strike="noStrike" spc="-1" dirty="0">
                <a:solidFill>
                  <a:srgbClr val="0086EA"/>
                </a:solidFill>
                <a:latin typeface="Arial"/>
                <a:ea typeface="MS PGothic"/>
              </a:rPr>
              <a:t>E</a:t>
            </a:r>
            <a:r>
              <a:rPr lang="en-US" sz="5400" b="0" strike="noStrike" spc="-1" dirty="0">
                <a:solidFill>
                  <a:schemeClr val="tx2">
                    <a:lumMod val="75000"/>
                  </a:schemeClr>
                </a:solidFill>
                <a:latin typeface="Arial"/>
                <a:ea typeface="MS PGothic"/>
              </a:rPr>
              <a:t>vent </a:t>
            </a:r>
            <a:r>
              <a:rPr lang="en-US" sz="5400" b="0" strike="noStrike" spc="-1" dirty="0">
                <a:solidFill>
                  <a:srgbClr val="0086EA"/>
                </a:solidFill>
                <a:latin typeface="Arial"/>
                <a:ea typeface="MS PGothic"/>
              </a:rPr>
              <a:t>L</a:t>
            </a:r>
            <a:r>
              <a:rPr lang="en-US" sz="5400" b="0" strike="noStrike" spc="-1" dirty="0">
                <a:solidFill>
                  <a:schemeClr val="tx2">
                    <a:lumMod val="75000"/>
                  </a:schemeClr>
                </a:solidFill>
                <a:latin typeface="Arial"/>
                <a:ea typeface="MS PGothic"/>
              </a:rPr>
              <a:t>ocalization for Multi-modal Audio-Visual Understanding</a:t>
            </a:r>
            <a:br>
              <a:rPr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4500" b="0" strike="noStrike" spc="-1" dirty="0">
                <a:solidFill>
                  <a:srgbClr val="0070C0"/>
                </a:solidFill>
                <a:latin typeface="Arial"/>
                <a:ea typeface="MS PGothic"/>
              </a:rPr>
              <a:t>Mona Ahmadian, Amir Shirian, Frank Guerin, Andrew Gilbert</a:t>
            </a:r>
            <a:endParaRPr lang="en-US" sz="4500" b="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8" name="TextShape 2"/>
          <p:cNvSpPr txBox="1"/>
          <p:nvPr/>
        </p:nvSpPr>
        <p:spPr>
          <a:xfrm>
            <a:off x="442102" y="2429288"/>
            <a:ext cx="11982016" cy="17566293"/>
          </a:xfrm>
          <a:prstGeom prst="rect">
            <a:avLst/>
          </a:prstGeom>
          <a:noFill/>
          <a:ln>
            <a:noFill/>
          </a:ln>
        </p:spPr>
        <p:txBody>
          <a:bodyPr lIns="294840" tIns="147600" rIns="294840" bIns="147600">
            <a:no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b="0" strike="noStrike" spc="-1" dirty="0">
                <a:solidFill>
                  <a:srgbClr val="000000"/>
                </a:solidFill>
                <a:latin typeface="Arial"/>
                <a:ea typeface="MS PGothic"/>
              </a:rPr>
              <a:t>Real videos contain dense, overlapping and concurrent multimodal events</a:t>
            </a: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dirty="0"/>
              <a:t>Audio–visual cues are often misaligned</a:t>
            </a: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dirty="0"/>
              <a:t>Need to capture intra-video temporal coherence</a:t>
            </a: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dirty="0"/>
              <a:t>Discover fine-grained cross-modal temporal dependencies</a:t>
            </a:r>
          </a:p>
          <a:p>
            <a:pPr marL="360" lvl="1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tabLst>
                <a:tab pos="0" algn="l"/>
              </a:tabLst>
            </a:pPr>
            <a:endParaRPr lang="en-GB" sz="32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GB" sz="1200" b="1" dirty="0"/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b="1" dirty="0"/>
              <a:t>Unified framework</a:t>
            </a:r>
            <a:r>
              <a:rPr lang="en-GB" sz="3200" dirty="0"/>
              <a:t> for dense multimodal event localization</a:t>
            </a: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GB" sz="800" dirty="0"/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b="1" dirty="0"/>
              <a:t>Adaptive attention mechanism</a:t>
            </a:r>
            <a:r>
              <a:rPr lang="en-GB" sz="3200" dirty="0"/>
              <a:t> for audio-visual alignment, ensuring event-synchronous and noise-robust interactions.</a:t>
            </a: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GB" sz="800" dirty="0"/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b="1" dirty="0"/>
              <a:t>Score-based contrastive learning</a:t>
            </a:r>
            <a:r>
              <a:rPr lang="en-GB" sz="3200" dirty="0"/>
              <a:t> with token-level supervision for dynamic selection of positives and hard negatives, enhancing intra-video discrimination.</a:t>
            </a: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GB" sz="800" dirty="0"/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b="1" dirty="0"/>
              <a:t>Path Aggregation Network (PAN)</a:t>
            </a:r>
            <a:r>
              <a:rPr lang="en-GB" sz="3200" dirty="0"/>
              <a:t> for multi-scale audio-visual fusion, preserving fine-grained temporal details while integrating high-level semantics.</a:t>
            </a: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GB" sz="800" dirty="0"/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b="1" dirty="0"/>
              <a:t>State-of-the-art performance</a:t>
            </a:r>
            <a:r>
              <a:rPr lang="en-GB" sz="3200" dirty="0"/>
              <a:t> onTHUMOS14, ActivityNet, EPIC-Kitchens and UnAV-100. consistently surpassing prior methods using the same encoders.</a:t>
            </a: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GB" sz="3200" b="0" strike="noStrike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565200" lvl="1" indent="-5648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TextShape 3"/>
          <p:cNvSpPr txBox="1"/>
          <p:nvPr/>
        </p:nvSpPr>
        <p:spPr>
          <a:xfrm>
            <a:off x="12246522" y="9354273"/>
            <a:ext cx="19521226" cy="13036803"/>
          </a:xfrm>
          <a:prstGeom prst="rect">
            <a:avLst/>
          </a:prstGeom>
          <a:noFill/>
          <a:ln>
            <a:noFill/>
          </a:ln>
        </p:spPr>
        <p:txBody>
          <a:bodyPr lIns="294840" tIns="147600" rIns="294840" bIns="147600">
            <a:noAutofit/>
          </a:bodyPr>
          <a:lstStyle/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b="1" strike="noStrike" spc="-1" dirty="0">
                <a:solidFill>
                  <a:srgbClr val="000000"/>
                </a:solidFill>
                <a:latin typeface="Arial"/>
                <a:ea typeface="MS PGothic"/>
              </a:rPr>
              <a:t>Cross-Modal Alignment</a:t>
            </a:r>
            <a:endParaRPr lang="en-GB" sz="3200" b="0" strike="noStrike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457560" lvl="1" indent="-457200"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Apply a learned event-aligned mask to the attention weights, ensuring temporal coherence and intra-modal consistency</a:t>
            </a:r>
            <a:endParaRPr lang="en-GB" sz="2800" i="1" spc="-1" dirty="0">
              <a:solidFill>
                <a:srgbClr val="000000"/>
              </a:solidFill>
              <a:latin typeface="Cambria Math" panose="02040503050406030204" pitchFamily="18" charset="0"/>
              <a:ea typeface="MS PGothic"/>
            </a:endParaRPr>
          </a:p>
          <a:p>
            <a:pPr marL="457560" lvl="1" indent="-457200"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800" spc="-1" dirty="0">
                <a:solidFill>
                  <a:srgbClr val="000000"/>
                </a:solidFill>
                <a:latin typeface="+mj-lt"/>
                <a:ea typeface="MS PGothic"/>
              </a:rPr>
              <a:t>This</a:t>
            </a:r>
            <a:r>
              <a:rPr lang="en-GB" sz="2800" i="1" spc="-1" dirty="0">
                <a:solidFill>
                  <a:srgbClr val="000000"/>
                </a:solidFill>
                <a:latin typeface="+mj-lt"/>
                <a:ea typeface="MS PGothic"/>
              </a:rPr>
              <a:t> </a:t>
            </a:r>
            <a:r>
              <a:rPr lang="en-US" sz="2800" spc="-1" dirty="0">
                <a:solidFill>
                  <a:srgbClr val="000000"/>
                </a:solidFill>
                <a:latin typeface="+mj-lt"/>
                <a:ea typeface="MS PGothic"/>
              </a:rPr>
              <a:t>guides </a:t>
            </a:r>
            <a:r>
              <a:rPr lang="en-US" sz="2800" spc="-1" dirty="0">
                <a:solidFill>
                  <a:srgbClr val="000000"/>
                </a:solidFill>
                <a:ea typeface="MS PGothic"/>
              </a:rPr>
              <a:t>feature interactions within and across modalities. Unlike standard self-attention, a learned mask matrix that constrains attention based on temporal alignment, </a:t>
            </a:r>
          </a:p>
          <a:p>
            <a:pPr marL="457560" lvl="1" indent="-457200"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ea typeface="MS PGothic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ea typeface="MS PGothic"/>
              </a:rPr>
              <a:t>Emphasising</a:t>
            </a:r>
            <a:r>
              <a:rPr lang="en-US" sz="2800" spc="-1" dirty="0">
                <a:solidFill>
                  <a:srgbClr val="000000"/>
                </a:solidFill>
                <a:ea typeface="MS PGothic"/>
              </a:rPr>
              <a:t> interactions likely to represent the same event while suppressing irrelevant ones. </a:t>
            </a:r>
            <a:endParaRPr lang="en-GB" sz="2800" b="0" strike="noStrike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MS PGothic"/>
              </a:rPr>
              <a:t>Score-based Contrastive Learning</a:t>
            </a: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1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MS PGothic"/>
              </a:rPr>
              <a:t>Standard contrastive learning struggles with fine-grained temporal dynamics in untrimmed videos.</a:t>
            </a: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1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MS PGothic"/>
              </a:rPr>
              <a:t>Heuristic sampling often overlooks concurrent events and intra-video relationships.</a:t>
            </a: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1" spc="-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MS PGothic"/>
              </a:rPr>
              <a:t>Need for a more adaptive method to align audio-visual features within and across samples.</a:t>
            </a: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latin typeface="+mj-lt"/>
                <a:ea typeface="MS PGothic"/>
              </a:rPr>
              <a:t>We introduce a score-based contrastive learning </a:t>
            </a:r>
          </a:p>
          <a:p>
            <a:pPr marL="360" lvl="1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latin typeface="+mj-lt"/>
                <a:ea typeface="MS PGothic"/>
              </a:rPr>
              <a:t>     approach that dynamically selects contrastive pairs </a:t>
            </a:r>
          </a:p>
          <a:p>
            <a:pPr marL="360" lvl="1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latin typeface="+mj-lt"/>
                <a:ea typeface="MS PGothic"/>
              </a:rPr>
              <a:t>     using a learned similarity function.</a:t>
            </a: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latin typeface="+mj-lt"/>
                <a:ea typeface="MS PGothic"/>
              </a:rPr>
              <a:t>Combines inter-sample and intra-sample objectives </a:t>
            </a:r>
          </a:p>
          <a:p>
            <a:pPr marL="360" lvl="1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latin typeface="+mj-lt"/>
                <a:ea typeface="MS PGothic"/>
              </a:rPr>
              <a:t>     to refine both global and fine-grained audio-visual alignment.</a:t>
            </a: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latin typeface="+mj-lt"/>
                <a:ea typeface="MS PGothic"/>
              </a:rPr>
              <a:t>Capturing contextual similarity and temporal alignment </a:t>
            </a:r>
          </a:p>
          <a:p>
            <a:pPr marL="360" lvl="1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2800" spc="-1" dirty="0">
                <a:solidFill>
                  <a:srgbClr val="000000"/>
                </a:solidFill>
                <a:latin typeface="+mj-lt"/>
                <a:ea typeface="MS PGothic"/>
              </a:rPr>
              <a:t>     across modalities.</a:t>
            </a:r>
          </a:p>
          <a:p>
            <a:pPr marL="360" lvl="1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tabLst>
                <a:tab pos="0" algn="l"/>
              </a:tabLst>
            </a:pPr>
            <a:endParaRPr lang="en-US" sz="2800" spc="-1" dirty="0">
              <a:solidFill>
                <a:srgbClr val="000000"/>
              </a:solidFill>
              <a:latin typeface="+mj-lt"/>
              <a:ea typeface="MS PGothic"/>
            </a:endParaRP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ea typeface="MS PGothic"/>
              </a:rPr>
              <a:t>Multi-Scale Feature Fusion</a:t>
            </a: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Events span short to long durations </a:t>
            </a:r>
            <a:r>
              <a:rPr lang="en-GB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→</a:t>
            </a:r>
            <a:r>
              <a:rPr lang="en-GB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multi-scale fusion preserves details and context while aggregating high-level semantics.</a:t>
            </a:r>
            <a:endParaRPr lang="en-GB" sz="2600" b="1" i="1" spc="-1" dirty="0">
              <a:solidFill>
                <a:schemeClr val="tx2">
                  <a:lumMod val="60000"/>
                  <a:lumOff val="40000"/>
                </a:schemeClr>
              </a:solidFill>
              <a:latin typeface="Cambria Math" panose="02040503050406030204" pitchFamily="18" charset="0"/>
              <a:ea typeface="MS PGothic"/>
            </a:endParaRPr>
          </a:p>
          <a:p>
            <a:pPr marL="360" lvl="1">
              <a:lnSpc>
                <a:spcPct val="100000"/>
              </a:lnSpc>
              <a:spcBef>
                <a:spcPts val="641"/>
              </a:spcBef>
              <a:buClr>
                <a:schemeClr val="bg1"/>
              </a:buClr>
              <a:tabLst>
                <a:tab pos="0" algn="l"/>
              </a:tabLst>
            </a:pPr>
            <a:r>
              <a:rPr lang="en-US" sz="2600" b="0" strike="noStrike" spc="-1" dirty="0">
                <a:solidFill>
                  <a:srgbClr val="000000"/>
                </a:solidFill>
                <a:latin typeface="Arial"/>
                <a:ea typeface="MS PGothic"/>
              </a:rPr>
              <a:t>     </a:t>
            </a: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MS PGothic"/>
              </a:rPr>
              <a:t>Enriches features across both modalities at multiple scale using attention-based fusion.</a:t>
            </a: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MS PGothic"/>
              </a:rPr>
              <a:t>Dynamically weight temporal features across scales for better event discrimination.</a:t>
            </a:r>
          </a:p>
          <a:p>
            <a:pPr marL="457560" lvl="1" indent="-457200">
              <a:lnSpc>
                <a:spcPct val="100000"/>
              </a:lnSpc>
              <a:spcBef>
                <a:spcPts val="641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/>
                <a:ea typeface="MS PGothic"/>
              </a:rPr>
              <a:t>Combines top-down and bottom-up pathways to preserve fine details and aggregate context.</a:t>
            </a:r>
            <a:endParaRPr lang="en-GB" sz="2800" b="0" strike="noStrike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sp>
        <p:nvSpPr>
          <p:cNvPr id="50" name="TextShape 4"/>
          <p:cNvSpPr txBox="1"/>
          <p:nvPr/>
        </p:nvSpPr>
        <p:spPr>
          <a:xfrm>
            <a:off x="31543023" y="3173705"/>
            <a:ext cx="11854208" cy="5644845"/>
          </a:xfrm>
          <a:prstGeom prst="rect">
            <a:avLst/>
          </a:prstGeom>
          <a:noFill/>
          <a:ln>
            <a:noFill/>
          </a:ln>
        </p:spPr>
        <p:txBody>
          <a:bodyPr lIns="294840" tIns="147600" rIns="294840" bIns="147600">
            <a:no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1D2CE7-0E17-8628-217C-31C07B0551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" r="462"/>
          <a:stretch>
            <a:fillRect/>
          </a:stretch>
        </p:blipFill>
        <p:spPr>
          <a:xfrm>
            <a:off x="12469588" y="2218128"/>
            <a:ext cx="18874150" cy="667621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E797FF7-DEA4-2613-187E-92EDA6E30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960" y="604800"/>
            <a:ext cx="5791201" cy="1709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F34AC8-6792-6726-25FA-BFA7AFB58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33" y="13935234"/>
            <a:ext cx="11111237" cy="7977542"/>
          </a:xfrm>
          <a:prstGeom prst="rect">
            <a:avLst/>
          </a:prstGeom>
        </p:spPr>
      </p:pic>
      <p:sp>
        <p:nvSpPr>
          <p:cNvPr id="2" name="Rectangle 11">
            <a:extLst>
              <a:ext uri="{FF2B5EF4-FFF2-40B4-BE49-F238E27FC236}">
                <a16:creationId xmlns:a16="http://schemas.microsoft.com/office/drawing/2014/main" id="{56AE0C6C-BB99-51DB-EC39-B2D1DB2BC16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4444" y="2478220"/>
            <a:ext cx="11854208" cy="6110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60020" tIns="80010" rIns="160020" bIns="80010" anchor="ctr"/>
          <a:lstStyle>
            <a:lvl1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002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4003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2004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6576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1148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5720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0292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Motivation</a:t>
            </a:r>
            <a:endParaRPr lang="en-US" altLang="en-US" sz="4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15CA1C1-7D7E-A96F-79A1-52D1ED49282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4444" y="5996125"/>
            <a:ext cx="11854208" cy="6110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60020" tIns="80010" rIns="160020" bIns="80010" anchor="ctr"/>
          <a:lstStyle>
            <a:lvl1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002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4003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2004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6576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1148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5720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0292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Contributions</a:t>
            </a:r>
            <a:endParaRPr lang="en-US" altLang="en-US" sz="4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FD404987-50B9-12DE-D083-2AFC42CE0D0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1461613" y="5974630"/>
            <a:ext cx="11935618" cy="62572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60020" tIns="80010" rIns="160020" bIns="80010" anchor="ctr"/>
          <a:lstStyle>
            <a:lvl1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002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4003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2004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6576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1148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5720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0292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Results</a:t>
            </a:r>
            <a:endParaRPr lang="en-US" altLang="en-US" sz="4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F1F7ACF0-EA08-414E-2A7D-E0740E70C1E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518662" y="8801260"/>
            <a:ext cx="18889027" cy="62389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60020" tIns="80010" rIns="160020" bIns="80010" anchor="ctr"/>
          <a:lstStyle>
            <a:lvl1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002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4003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2004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6576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1148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5720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0292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Method</a:t>
            </a:r>
            <a:endParaRPr lang="en-US" altLang="en-US" sz="4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6F4FF68D-B28B-D6C3-ECA3-E77D6B0E1C4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1492097" y="12985869"/>
            <a:ext cx="11854208" cy="61107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60020" tIns="80010" rIns="160020" bIns="80010" anchor="ctr"/>
          <a:lstStyle>
            <a:lvl1pPr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002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4003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200400" defTabSz="43894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6576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41148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5720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5029200" defTabSz="43894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Component Ablation</a:t>
            </a:r>
            <a:endParaRPr lang="en-US" altLang="en-US" sz="4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3F4147A-EC21-285B-6099-B3CBD930E2F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7835"/>
          <a:stretch>
            <a:fillRect/>
          </a:stretch>
        </p:blipFill>
        <p:spPr>
          <a:xfrm>
            <a:off x="32819932" y="14509758"/>
            <a:ext cx="9300389" cy="225092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77E0260-8F04-6412-CB9D-8B4FA83852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" t="1" r="20818" b="634"/>
          <a:stretch>
            <a:fillRect/>
          </a:stretch>
        </p:blipFill>
        <p:spPr>
          <a:xfrm>
            <a:off x="32443779" y="16895992"/>
            <a:ext cx="9483058" cy="4936480"/>
          </a:xfrm>
          <a:prstGeom prst="rect">
            <a:avLst/>
          </a:prstGeom>
        </p:spPr>
      </p:pic>
      <p:pic>
        <p:nvPicPr>
          <p:cNvPr id="32" name="Picture 31" descr="A diagram of a graph&#10;&#10;AI-generated content may be incorrect.">
            <a:extLst>
              <a:ext uri="{FF2B5EF4-FFF2-40B4-BE49-F238E27FC236}">
                <a16:creationId xmlns:a16="http://schemas.microsoft.com/office/drawing/2014/main" id="{2255A6C1-2D8D-9069-1743-FBB1C70D84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8077" y="14822600"/>
            <a:ext cx="8617806" cy="3849169"/>
          </a:xfrm>
          <a:prstGeom prst="rect">
            <a:avLst/>
          </a:prstGeom>
        </p:spPr>
      </p:pic>
      <p:sp>
        <p:nvSpPr>
          <p:cNvPr id="55" name="CustomShape 6"/>
          <p:cNvSpPr/>
          <p:nvPr/>
        </p:nvSpPr>
        <p:spPr>
          <a:xfrm>
            <a:off x="31421103" y="2254074"/>
            <a:ext cx="12348177" cy="37404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94840" tIns="147600" rIns="294840" bIns="147600">
            <a:normAutofit/>
          </a:bodyPr>
          <a:lstStyle/>
          <a:p>
            <a:pPr marL="360" lvl="1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GB" sz="2800" spc="-1" dirty="0">
                <a:solidFill>
                  <a:srgbClr val="000000"/>
                </a:solidFill>
                <a:latin typeface="Arial"/>
                <a:ea typeface="MS PGothic"/>
              </a:rPr>
              <a:t>Ablation studies, results, and implementation details are provided in our arXiv paper. The DEL code and pretrained models are publicly available on GitHub.</a:t>
            </a:r>
            <a:endParaRPr lang="en-US" sz="2800" spc="-1" dirty="0">
              <a:latin typeface="Arial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b="0" strike="noStrike" spc="-1" dirty="0">
              <a:latin typeface="Arial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spc="-1" dirty="0">
              <a:latin typeface="Arial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b="0" strike="noStrike" spc="-1" dirty="0">
              <a:latin typeface="Arial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spc="-1" dirty="0">
              <a:latin typeface="Arial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b="0" strike="noStrike" spc="-1" dirty="0">
              <a:latin typeface="Arial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AB989BA-33DE-F14F-82F2-1C49AEF412B4}"/>
              </a:ext>
            </a:extLst>
          </p:cNvPr>
          <p:cNvGrpSpPr/>
          <p:nvPr/>
        </p:nvGrpSpPr>
        <p:grpSpPr>
          <a:xfrm>
            <a:off x="36946380" y="3216001"/>
            <a:ext cx="2915972" cy="2774006"/>
            <a:chOff x="36927132" y="19024565"/>
            <a:chExt cx="2915972" cy="277400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B028FB-0889-C7DA-5F2E-6A86844BAC80}"/>
                </a:ext>
              </a:extLst>
            </p:cNvPr>
            <p:cNvSpPr txBox="1"/>
            <p:nvPr/>
          </p:nvSpPr>
          <p:spPr>
            <a:xfrm>
              <a:off x="37948878" y="21336906"/>
              <a:ext cx="10773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rgbClr val="0070C0"/>
                  </a:solidFill>
                </a:rPr>
                <a:t>Code</a:t>
              </a:r>
            </a:p>
          </p:txBody>
        </p:sp>
        <p:pic>
          <p:nvPicPr>
            <p:cNvPr id="42" name="Picture 41" descr="A qr code with flowers around it&#10;&#10;AI-generated content may be incorrect.">
              <a:extLst>
                <a:ext uri="{FF2B5EF4-FFF2-40B4-BE49-F238E27FC236}">
                  <a16:creationId xmlns:a16="http://schemas.microsoft.com/office/drawing/2014/main" id="{105927AA-46D9-E1CB-7904-C8F71ABD8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3" t="9833" r="5034" b="14257"/>
            <a:stretch>
              <a:fillRect/>
            </a:stretch>
          </p:blipFill>
          <p:spPr>
            <a:xfrm>
              <a:off x="36927132" y="19024565"/>
              <a:ext cx="2915972" cy="241962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8DC0FE2-D44A-9F3C-86D0-702ABAA65506}"/>
              </a:ext>
            </a:extLst>
          </p:cNvPr>
          <p:cNvGrpSpPr/>
          <p:nvPr/>
        </p:nvGrpSpPr>
        <p:grpSpPr>
          <a:xfrm>
            <a:off x="40105596" y="3236321"/>
            <a:ext cx="2929728" cy="2715761"/>
            <a:chOff x="40086348" y="19044885"/>
            <a:chExt cx="2929728" cy="271576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063F76-3007-1561-C5E8-506713FA0374}"/>
                </a:ext>
              </a:extLst>
            </p:cNvPr>
            <p:cNvSpPr txBox="1"/>
            <p:nvPr/>
          </p:nvSpPr>
          <p:spPr>
            <a:xfrm>
              <a:off x="41083011" y="21356003"/>
              <a:ext cx="824578" cy="4046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solidFill>
                    <a:srgbClr val="0070C0"/>
                  </a:solidFill>
                </a:rPr>
                <a:t>arXiv</a:t>
              </a:r>
            </a:p>
          </p:txBody>
        </p:sp>
        <p:pic>
          <p:nvPicPr>
            <p:cNvPr id="45" name="Picture 44" descr="A qr code with flowers around it&#10;&#10;AI-generated content may be incorrect.">
              <a:extLst>
                <a:ext uri="{FF2B5EF4-FFF2-40B4-BE49-F238E27FC236}">
                  <a16:creationId xmlns:a16="http://schemas.microsoft.com/office/drawing/2014/main" id="{6AB8BB7C-A082-086F-1693-5B9D737BC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24" t="9814" r="3577" b="13626"/>
            <a:stretch>
              <a:fillRect/>
            </a:stretch>
          </p:blipFill>
          <p:spPr>
            <a:xfrm>
              <a:off x="40086348" y="19044885"/>
              <a:ext cx="2929728" cy="2419622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BB0688A8-89E9-F4EE-5D48-8BD0B1AC9F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8137" t="17793" r="2435" b="13218"/>
          <a:stretch>
            <a:fillRect/>
          </a:stretch>
        </p:blipFill>
        <p:spPr>
          <a:xfrm>
            <a:off x="31688504" y="6682654"/>
            <a:ext cx="11563244" cy="6271370"/>
          </a:xfrm>
          <a:prstGeom prst="rect">
            <a:avLst/>
          </a:prstGeom>
        </p:spPr>
      </p:pic>
      <p:sp>
        <p:nvSpPr>
          <p:cNvPr id="14" name="CustomShape 6">
            <a:extLst>
              <a:ext uri="{FF2B5EF4-FFF2-40B4-BE49-F238E27FC236}">
                <a16:creationId xmlns:a16="http://schemas.microsoft.com/office/drawing/2014/main" id="{9F1E6AA5-0963-C465-3B9C-78205328F5E2}"/>
              </a:ext>
            </a:extLst>
          </p:cNvPr>
          <p:cNvSpPr/>
          <p:nvPr/>
        </p:nvSpPr>
        <p:spPr>
          <a:xfrm>
            <a:off x="31295883" y="13456647"/>
            <a:ext cx="12930597" cy="11836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94840" tIns="147600" rIns="294840" bIns="147600">
            <a:normAutofit/>
          </a:bodyPr>
          <a:lstStyle/>
          <a:p>
            <a:pPr marL="360" lvl="1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GB" sz="2800" spc="-1" dirty="0">
                <a:solidFill>
                  <a:srgbClr val="000000"/>
                </a:solidFill>
                <a:latin typeface="Arial"/>
                <a:ea typeface="MS PGothic"/>
              </a:rPr>
              <a:t>Evaluating the individual contributions of our proposed modules on UnAV reporting mAP across tIoU thresholds and their average:</a:t>
            </a:r>
            <a:endParaRPr lang="en-US" sz="2800" b="0" strike="noStrike" spc="-1" dirty="0">
              <a:latin typeface="Arial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spc="-1" dirty="0">
              <a:latin typeface="Arial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b="0" strike="noStrike" spc="-1" dirty="0">
              <a:latin typeface="Arial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spc="-1" dirty="0">
              <a:latin typeface="Arial"/>
            </a:endParaRPr>
          </a:p>
          <a:p>
            <a:pPr marL="565200" indent="-564840"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382</Words>
  <Application>Microsoft Office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MS PGothic</vt:lpstr>
      <vt:lpstr>Arial</vt:lpstr>
      <vt:lpstr>Calibri</vt:lpstr>
      <vt:lpstr>Cambria Math</vt:lpstr>
      <vt:lpstr>Roboto</vt:lpstr>
      <vt:lpstr>Times New Roman</vt:lpstr>
      <vt:lpstr>Wingdings</vt:lpstr>
      <vt:lpstr>Office Theme</vt:lpstr>
      <vt:lpstr>PowerPoint Presentation</vt:lpstr>
    </vt:vector>
  </TitlesOfParts>
  <Company>Univ. of Colorado at Colorado Springs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title here:  Maybe add some pictures and/or school logo on the left and right authors and affiliation</dc:title>
  <dc:subject/>
  <dc:creator>Terry Boult</dc:creator>
  <dc:description/>
  <cp:lastModifiedBy>Gilbert, Andrew Dr (Music &amp; Media)</cp:lastModifiedBy>
  <cp:revision>77</cp:revision>
  <dcterms:created xsi:type="dcterms:W3CDTF">2014-05-29T01:41:03Z</dcterms:created>
  <dcterms:modified xsi:type="dcterms:W3CDTF">2025-09-26T20:59:24Z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Univ. of Colorado at Colorado Springs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Custom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</Properties>
</file>